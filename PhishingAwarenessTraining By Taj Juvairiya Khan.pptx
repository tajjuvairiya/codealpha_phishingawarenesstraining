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1" r:id="rId13"/>
    <p:sldId id="292" r:id="rId14"/>
    <p:sldId id="293" r:id="rId15"/>
    <p:sldId id="294" r:id="rId16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4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4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6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/>
        </p:spPr>
      </p:pic>
      <p:sp>
        <p:nvSpPr>
          <p:cNvPr id="1048664" name="Text 1"/>
          <p:cNvSpPr/>
          <p:nvPr/>
        </p:nvSpPr>
        <p:spPr>
          <a:xfrm>
            <a:off x="457200" y="2011680"/>
            <a:ext cx="8229600" cy="7315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kern="0" lang="en-US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dirty="0" sz="4000" lang="en-US"/>
          </a:p>
        </p:txBody>
      </p:sp>
      <p:sp>
        <p:nvSpPr>
          <p:cNvPr id="1048665" name="Text 2"/>
          <p:cNvSpPr/>
          <p:nvPr/>
        </p:nvSpPr>
        <p:spPr>
          <a:xfrm>
            <a:off x="457200" y="2743200"/>
            <a:ext cx="82296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kern="0" lang="en-US" spc="80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dirty="0" sz="4000" lang="en-US"/>
          </a:p>
        </p:txBody>
      </p:sp>
      <p:sp>
        <p:nvSpPr>
          <p:cNvPr id="1048666" name="Text 3"/>
          <p:cNvSpPr/>
          <p:nvPr/>
        </p:nvSpPr>
        <p:spPr>
          <a:xfrm>
            <a:off x="457200" y="347472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i="1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 from Cyber Threats</a:t>
            </a:r>
            <a:endParaRPr dirty="0" sz="1600" lang="en-US"/>
          </a:p>
        </p:txBody>
      </p:sp>
      <p:sp>
        <p:nvSpPr>
          <p:cNvPr id="1048667" name="Text 4"/>
          <p:cNvSpPr/>
          <p:nvPr/>
        </p:nvSpPr>
        <p:spPr>
          <a:xfrm>
            <a:off x="457200" y="4663440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 •  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dirty="0" sz="1100" lang="en-US"/>
          </a:p>
        </p:txBody>
      </p:sp>
      <p:sp>
        <p:nvSpPr>
          <p:cNvPr id="1048668" name="Shape 5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27" name="Text 1"/>
          <p:cNvSpPr/>
          <p:nvPr/>
        </p:nvSpPr>
        <p:spPr>
          <a:xfrm>
            <a:off x="45720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dirty="0" sz="2800" lang="en-US"/>
          </a:p>
        </p:txBody>
      </p:sp>
      <p:sp>
        <p:nvSpPr>
          <p:cNvPr id="1048628" name="Shape 2"/>
          <p:cNvSpPr/>
          <p:nvPr/>
        </p:nvSpPr>
        <p:spPr>
          <a:xfrm>
            <a:off x="365760" y="86868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pic>
        <p:nvPicPr>
          <p:cNvPr id="209716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600200" y="1051560"/>
            <a:ext cx="1188720" cy="1188720"/>
          </a:xfrm>
          <a:prstGeom prst="rect"/>
        </p:spPr>
      </p:pic>
      <p:sp>
        <p:nvSpPr>
          <p:cNvPr id="1048629" name="Text 3"/>
          <p:cNvSpPr/>
          <p:nvPr/>
        </p:nvSpPr>
        <p:spPr>
          <a:xfrm>
            <a:off x="411480" y="2331720"/>
            <a:ext cx="356616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Billion</a:t>
            </a:r>
            <a:endParaRPr dirty="0" sz="2600" lang="en-US"/>
          </a:p>
        </p:txBody>
      </p:sp>
      <p:sp>
        <p:nvSpPr>
          <p:cNvPr id="1048630" name="Text 4"/>
          <p:cNvSpPr/>
          <p:nvPr/>
        </p:nvSpPr>
        <p:spPr>
          <a:xfrm>
            <a:off x="411480" y="2834640"/>
            <a:ext cx="35661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300" lang="en-US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</a:t>
            </a:r>
            <a:endParaRPr dirty="0" sz="1300" lang="en-US">
              <a:solidFill>
                <a:srgbClr val="FFCC00"/>
              </a:solidFill>
            </a:endParaRPr>
          </a:p>
          <a:p>
            <a:pPr algn="ctr" indent="0" marL="0">
              <a:buNone/>
            </a:pPr>
            <a:r>
              <a:rPr dirty="0" sz="1300" lang="en-US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</a:t>
            </a:r>
            <a:endParaRPr dirty="0" sz="1300" lang="en-US">
              <a:solidFill>
                <a:srgbClr val="FFCC00"/>
              </a:solidFill>
            </a:endParaRPr>
          </a:p>
        </p:txBody>
      </p:sp>
      <p:sp>
        <p:nvSpPr>
          <p:cNvPr id="1048631" name="Text 5"/>
          <p:cNvSpPr/>
          <p:nvPr/>
        </p:nvSpPr>
        <p:spPr>
          <a:xfrm>
            <a:off x="411480" y="3429000"/>
            <a:ext cx="35661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i="1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cyber attack vector</a:t>
            </a:r>
            <a:endParaRPr dirty="0" sz="1200" lang="en-US"/>
          </a:p>
          <a:p>
            <a:pPr algn="ctr" indent="0" marL="0">
              <a:buNone/>
            </a:pPr>
            <a:r>
              <a:rPr dirty="0" sz="1200" i="1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dirty="0" sz="1200" lang="en-US"/>
          </a:p>
        </p:txBody>
      </p:sp>
      <p:sp>
        <p:nvSpPr>
          <p:cNvPr id="1048632" name="Shape 6"/>
          <p:cNvSpPr/>
          <p:nvPr/>
        </p:nvSpPr>
        <p:spPr>
          <a:xfrm>
            <a:off x="4297680" y="868680"/>
            <a:ext cx="4480560" cy="3200400"/>
          </a:xfrm>
          <a:prstGeom prst="roundRect">
            <a:avLst>
              <a:gd name="adj" fmla="val 3429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33" name="Text 7"/>
          <p:cNvSpPr/>
          <p:nvPr/>
        </p:nvSpPr>
        <p:spPr>
          <a:xfrm>
            <a:off x="4434840" y="1005840"/>
            <a:ext cx="42062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dirty="0" sz="1400" lang="en-US"/>
          </a:p>
        </p:txBody>
      </p:sp>
      <p:sp>
        <p:nvSpPr>
          <p:cNvPr id="1048634" name="Text 8"/>
          <p:cNvSpPr/>
          <p:nvPr/>
        </p:nvSpPr>
        <p:spPr>
          <a:xfrm>
            <a:off x="4434840" y="1371600"/>
            <a:ext cx="420624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entities via email, SMS, or websites to steal sensitive information like passwords, credit card numbers, or personal data.</a:t>
            </a:r>
            <a:endParaRPr dirty="0" sz="1300" lang="en-US"/>
          </a:p>
        </p:txBody>
      </p:sp>
      <p:sp>
        <p:nvSpPr>
          <p:cNvPr id="1048635" name="Text 9"/>
          <p:cNvSpPr/>
          <p:nvPr/>
        </p:nvSpPr>
        <p:spPr>
          <a:xfrm>
            <a:off x="4434840" y="2468880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dirty="0" sz="1300" lang="en-US"/>
          </a:p>
        </p:txBody>
      </p:sp>
      <p:sp>
        <p:nvSpPr>
          <p:cNvPr id="1048636" name="Text 10"/>
          <p:cNvSpPr/>
          <p:nvPr/>
        </p:nvSpPr>
        <p:spPr>
          <a:xfrm>
            <a:off x="4434840" y="2788920"/>
            <a:ext cx="4206240" cy="114300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 — mass generic attacks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— targeted at individuals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— via SMS text messages</a:t>
            </a:r>
            <a:endParaRPr dirty="0" sz="1200" lang="en-US">
              <a:solidFill>
                <a:srgbClr val="FFFFFF"/>
              </a:solidFill>
            </a:endParaRPr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— voice/phone call scams</a:t>
            </a:r>
            <a:endParaRPr dirty="0" sz="1200" lang="en-US">
              <a:solidFill>
                <a:srgbClr val="FFFFFF"/>
              </a:solidFill>
            </a:endParaRPr>
          </a:p>
        </p:txBody>
      </p:sp>
      <p:sp>
        <p:nvSpPr>
          <p:cNvPr id="1048637" name="Shape 11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577" name="Text 1"/>
          <p:cNvSpPr/>
          <p:nvPr/>
        </p:nvSpPr>
        <p:spPr>
          <a:xfrm>
            <a:off x="45720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 PHISHING EMAILS</a:t>
            </a:r>
            <a:endParaRPr dirty="0" sz="2400" lang="en-US"/>
          </a:p>
        </p:txBody>
      </p:sp>
      <p:sp>
        <p:nvSpPr>
          <p:cNvPr id="1048578" name="Shape 2"/>
          <p:cNvSpPr/>
          <p:nvPr/>
        </p:nvSpPr>
        <p:spPr>
          <a:xfrm>
            <a:off x="274320" y="86868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579" name="Shape 3"/>
          <p:cNvSpPr/>
          <p:nvPr/>
        </p:nvSpPr>
        <p:spPr>
          <a:xfrm>
            <a:off x="411480" y="978408"/>
            <a:ext cx="457200" cy="457200"/>
          </a:xfrm>
          <a:prstGeom prst="ellipse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2628" y="1007669"/>
            <a:ext cx="374904" cy="374904"/>
          </a:xfrm>
          <a:prstGeom prst="rect"/>
        </p:spPr>
      </p:pic>
      <p:sp>
        <p:nvSpPr>
          <p:cNvPr id="1048580" name="Text 4"/>
          <p:cNvSpPr/>
          <p:nvPr/>
        </p:nvSpPr>
        <p:spPr>
          <a:xfrm>
            <a:off x="969264" y="1005840"/>
            <a:ext cx="2048256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</a:t>
            </a:r>
            <a:endParaRPr dirty="0" sz="1200" lang="en-US"/>
          </a:p>
        </p:txBody>
      </p:sp>
      <p:sp>
        <p:nvSpPr>
          <p:cNvPr id="1048581" name="Text 5"/>
          <p:cNvSpPr/>
          <p:nvPr/>
        </p:nvSpPr>
        <p:spPr>
          <a:xfrm>
            <a:off x="411480" y="1527048"/>
            <a:ext cx="2606040" cy="9601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from 'paypa1.com' or 'amazon-support.net' — not the real domain</a:t>
            </a:r>
            <a:endParaRPr dirty="0" sz="1100" lang="en-US"/>
          </a:p>
        </p:txBody>
      </p:sp>
      <p:sp>
        <p:nvSpPr>
          <p:cNvPr id="1048582" name="Shape 6"/>
          <p:cNvSpPr/>
          <p:nvPr/>
        </p:nvSpPr>
        <p:spPr>
          <a:xfrm>
            <a:off x="3246120" y="86868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583" name="Shape 7"/>
          <p:cNvSpPr/>
          <p:nvPr/>
        </p:nvSpPr>
        <p:spPr>
          <a:xfrm>
            <a:off x="3383280" y="978408"/>
            <a:ext cx="457200" cy="457200"/>
          </a:xfrm>
          <a:prstGeom prst="ellipse"/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424428" y="1007669"/>
            <a:ext cx="374904" cy="374904"/>
          </a:xfrm>
          <a:prstGeom prst="rect"/>
        </p:spPr>
      </p:pic>
      <p:sp>
        <p:nvSpPr>
          <p:cNvPr id="1048584" name="Text 8"/>
          <p:cNvSpPr/>
          <p:nvPr/>
        </p:nvSpPr>
        <p:spPr>
          <a:xfrm>
            <a:off x="3941064" y="1005840"/>
            <a:ext cx="2048256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dirty="0" sz="1200" lang="en-US"/>
          </a:p>
        </p:txBody>
      </p:sp>
      <p:sp>
        <p:nvSpPr>
          <p:cNvPr id="1048585" name="Text 9"/>
          <p:cNvSpPr/>
          <p:nvPr/>
        </p:nvSpPr>
        <p:spPr>
          <a:xfrm>
            <a:off x="3383280" y="1527048"/>
            <a:ext cx="2606040" cy="9601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24 hours!" — pressure tactics</a:t>
            </a:r>
            <a:endParaRPr dirty="0" sz="1100" lang="en-US"/>
          </a:p>
        </p:txBody>
      </p:sp>
      <p:sp>
        <p:nvSpPr>
          <p:cNvPr id="1048586" name="Shape 10"/>
          <p:cNvSpPr/>
          <p:nvPr/>
        </p:nvSpPr>
        <p:spPr>
          <a:xfrm>
            <a:off x="6217920" y="86868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587" name="Shape 11"/>
          <p:cNvSpPr/>
          <p:nvPr/>
        </p:nvSpPr>
        <p:spPr>
          <a:xfrm>
            <a:off x="6355080" y="978408"/>
            <a:ext cx="457200" cy="457200"/>
          </a:xfrm>
          <a:prstGeom prst="ellipse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396228" y="1007669"/>
            <a:ext cx="374904" cy="374904"/>
          </a:xfrm>
          <a:prstGeom prst="rect"/>
        </p:spPr>
      </p:pic>
      <p:sp>
        <p:nvSpPr>
          <p:cNvPr id="1048588" name="Text 12"/>
          <p:cNvSpPr/>
          <p:nvPr/>
        </p:nvSpPr>
        <p:spPr>
          <a:xfrm>
            <a:off x="6912864" y="1005840"/>
            <a:ext cx="2048256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dirty="0" sz="1200" lang="en-US"/>
          </a:p>
        </p:txBody>
      </p:sp>
      <p:sp>
        <p:nvSpPr>
          <p:cNvPr id="1048589" name="Text 13"/>
          <p:cNvSpPr/>
          <p:nvPr/>
        </p:nvSpPr>
        <p:spPr>
          <a:xfrm>
            <a:off x="6355080" y="1527048"/>
            <a:ext cx="2606040" cy="9601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actual name</a:t>
            </a:r>
            <a:endParaRPr dirty="0" sz="1100" lang="en-US"/>
          </a:p>
        </p:txBody>
      </p:sp>
      <p:sp>
        <p:nvSpPr>
          <p:cNvPr id="1048590" name="Shape 14"/>
          <p:cNvSpPr/>
          <p:nvPr/>
        </p:nvSpPr>
        <p:spPr>
          <a:xfrm>
            <a:off x="27432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591" name="Shape 15"/>
          <p:cNvSpPr/>
          <p:nvPr/>
        </p:nvSpPr>
        <p:spPr>
          <a:xfrm>
            <a:off x="411480" y="2944368"/>
            <a:ext cx="457200" cy="457200"/>
          </a:xfrm>
          <a:prstGeom prst="ellipse"/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097155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2628" y="2973629"/>
            <a:ext cx="374904" cy="374904"/>
          </a:xfrm>
          <a:prstGeom prst="rect"/>
        </p:spPr>
      </p:pic>
      <p:sp>
        <p:nvSpPr>
          <p:cNvPr id="1048592" name="Text 16"/>
          <p:cNvSpPr/>
          <p:nvPr/>
        </p:nvSpPr>
        <p:spPr>
          <a:xfrm>
            <a:off x="969264" y="2971800"/>
            <a:ext cx="2048256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Errors</a:t>
            </a:r>
            <a:endParaRPr dirty="0" sz="1200" lang="en-US"/>
          </a:p>
        </p:txBody>
      </p:sp>
      <p:sp>
        <p:nvSpPr>
          <p:cNvPr id="1048593" name="Text 17"/>
          <p:cNvSpPr/>
          <p:nvPr/>
        </p:nvSpPr>
        <p:spPr>
          <a:xfrm>
            <a:off x="411480" y="3493008"/>
            <a:ext cx="2606040" cy="9601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mistakes, awkward phrasing, or poor formatting</a:t>
            </a:r>
            <a:endParaRPr dirty="0" sz="1100" lang="en-US"/>
          </a:p>
        </p:txBody>
      </p:sp>
      <p:sp>
        <p:nvSpPr>
          <p:cNvPr id="1048594" name="Shape 18"/>
          <p:cNvSpPr/>
          <p:nvPr/>
        </p:nvSpPr>
        <p:spPr>
          <a:xfrm>
            <a:off x="324612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595" name="Shape 19"/>
          <p:cNvSpPr/>
          <p:nvPr/>
        </p:nvSpPr>
        <p:spPr>
          <a:xfrm>
            <a:off x="3383280" y="2944368"/>
            <a:ext cx="457200" cy="457200"/>
          </a:xfrm>
          <a:prstGeom prst="ellipse"/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097156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3424428" y="2973629"/>
            <a:ext cx="374904" cy="374904"/>
          </a:xfrm>
          <a:prstGeom prst="rect"/>
        </p:spPr>
      </p:pic>
      <p:sp>
        <p:nvSpPr>
          <p:cNvPr id="1048596" name="Text 20"/>
          <p:cNvSpPr/>
          <p:nvPr/>
        </p:nvSpPr>
        <p:spPr>
          <a:xfrm>
            <a:off x="3941064" y="2971800"/>
            <a:ext cx="2048256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dirty="0" sz="1200" lang="en-US"/>
          </a:p>
        </p:txBody>
      </p:sp>
      <p:sp>
        <p:nvSpPr>
          <p:cNvPr id="1048597" name="Text 21"/>
          <p:cNvSpPr/>
          <p:nvPr/>
        </p:nvSpPr>
        <p:spPr>
          <a:xfrm>
            <a:off x="3383280" y="3493008"/>
            <a:ext cx="2606040" cy="9601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 — URL doesn't match the displayed text</a:t>
            </a:r>
            <a:endParaRPr dirty="0" sz="1100" lang="en-US"/>
          </a:p>
        </p:txBody>
      </p:sp>
      <p:sp>
        <p:nvSpPr>
          <p:cNvPr id="1048598" name="Shape 22"/>
          <p:cNvSpPr/>
          <p:nvPr/>
        </p:nvSpPr>
        <p:spPr>
          <a:xfrm>
            <a:off x="621792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599" name="Shape 23"/>
          <p:cNvSpPr/>
          <p:nvPr/>
        </p:nvSpPr>
        <p:spPr>
          <a:xfrm>
            <a:off x="6355080" y="2944368"/>
            <a:ext cx="457200" cy="457200"/>
          </a:xfrm>
          <a:prstGeom prst="ellipse"/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097157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396228" y="2973629"/>
            <a:ext cx="374904" cy="374904"/>
          </a:xfrm>
          <a:prstGeom prst="rect"/>
        </p:spPr>
      </p:pic>
      <p:sp>
        <p:nvSpPr>
          <p:cNvPr id="1048600" name="Text 24"/>
          <p:cNvSpPr/>
          <p:nvPr/>
        </p:nvSpPr>
        <p:spPr>
          <a:xfrm>
            <a:off x="6912864" y="2971800"/>
            <a:ext cx="2048256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</a:t>
            </a:r>
            <a:endParaRPr dirty="0" sz="1200" lang="en-US"/>
          </a:p>
        </p:txBody>
      </p:sp>
      <p:sp>
        <p:nvSpPr>
          <p:cNvPr id="1048601" name="Text 25"/>
          <p:cNvSpPr/>
          <p:nvPr/>
        </p:nvSpPr>
        <p:spPr>
          <a:xfrm>
            <a:off x="6355080" y="3493008"/>
            <a:ext cx="2606040" cy="9601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Unsolicited .exe, .zip, or Office files asking to enable macros</a:t>
            </a:r>
            <a:endParaRPr dirty="0" sz="1100" lang="en-US"/>
          </a:p>
        </p:txBody>
      </p:sp>
      <p:sp>
        <p:nvSpPr>
          <p:cNvPr id="1048602" name="Shape 26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07" name="Text 1"/>
          <p:cNvSpPr/>
          <p:nvPr/>
        </p:nvSpPr>
        <p:spPr>
          <a:xfrm>
            <a:off x="45720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 DETECTION</a:t>
            </a:r>
            <a:endParaRPr dirty="0" sz="2800" lang="en-US"/>
          </a:p>
        </p:txBody>
      </p:sp>
      <p:sp>
        <p:nvSpPr>
          <p:cNvPr id="1048608" name="Shape 2"/>
          <p:cNvSpPr/>
          <p:nvPr/>
        </p:nvSpPr>
        <p:spPr>
          <a:xfrm>
            <a:off x="365760" y="86868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09" name="Text 3"/>
          <p:cNvSpPr/>
          <p:nvPr/>
        </p:nvSpPr>
        <p:spPr>
          <a:xfrm>
            <a:off x="548640" y="960120"/>
            <a:ext cx="45720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URL Bar — What to Check</a:t>
            </a:r>
            <a:endParaRPr dirty="0" sz="1300" lang="en-US"/>
          </a:p>
        </p:txBody>
      </p:sp>
      <p:sp>
        <p:nvSpPr>
          <p:cNvPr id="1048610" name="Shape 4"/>
          <p:cNvSpPr/>
          <p:nvPr/>
        </p:nvSpPr>
        <p:spPr>
          <a:xfrm>
            <a:off x="548640" y="1371600"/>
            <a:ext cx="4663440" cy="411480"/>
          </a:xfrm>
          <a:prstGeom prst="roundRect">
            <a:avLst>
              <a:gd name="adj" fmla="val 13333"/>
            </a:avLst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11" name="Text 5"/>
          <p:cNvSpPr/>
          <p:nvPr/>
        </p:nvSpPr>
        <p:spPr>
          <a:xfrm>
            <a:off x="594360" y="1417320"/>
            <a:ext cx="4526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http://paypa1-secure.login.com/verify</a:t>
            </a:r>
            <a:endParaRPr dirty="0" sz="1100" lang="en-US"/>
          </a:p>
        </p:txBody>
      </p:sp>
      <p:sp>
        <p:nvSpPr>
          <p:cNvPr id="1048612" name="Text 6"/>
          <p:cNvSpPr/>
          <p:nvPr/>
        </p:nvSpPr>
        <p:spPr>
          <a:xfrm>
            <a:off x="548640" y="1828800"/>
            <a:ext cx="46634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FAKE — No HTTPS, misspelled domain</a:t>
            </a:r>
            <a:endParaRPr dirty="0" sz="1100" lang="en-US"/>
          </a:p>
        </p:txBody>
      </p:sp>
      <p:sp>
        <p:nvSpPr>
          <p:cNvPr id="1048613" name="Shape 7"/>
          <p:cNvSpPr/>
          <p:nvPr/>
        </p:nvSpPr>
        <p:spPr>
          <a:xfrm>
            <a:off x="548640" y="2194560"/>
            <a:ext cx="4663440" cy="411480"/>
          </a:xfrm>
          <a:prstGeom prst="roundRect">
            <a:avLst>
              <a:gd name="adj" fmla="val 13333"/>
            </a:avLst>
          </a:prstGeom>
          <a:solidFill>
            <a:srgbClr val="0A1A0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48614" name="Text 8"/>
          <p:cNvSpPr/>
          <p:nvPr/>
        </p:nvSpPr>
        <p:spPr>
          <a:xfrm>
            <a:off x="594360" y="2240280"/>
            <a:ext cx="4526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https://www.paypal.com/signin</a:t>
            </a:r>
            <a:endParaRPr dirty="0" sz="1100" lang="en-US"/>
          </a:p>
        </p:txBody>
      </p:sp>
      <p:sp>
        <p:nvSpPr>
          <p:cNvPr id="1048615" name="Text 9"/>
          <p:cNvSpPr/>
          <p:nvPr/>
        </p:nvSpPr>
        <p:spPr>
          <a:xfrm>
            <a:off x="548640" y="2651760"/>
            <a:ext cx="46634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— HTTPS, correct domain</a:t>
            </a:r>
            <a:endParaRPr dirty="0" sz="1100" lang="en-US"/>
          </a:p>
        </p:txBody>
      </p:sp>
      <p:pic>
        <p:nvPicPr>
          <p:cNvPr id="209715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48640" y="3063240"/>
            <a:ext cx="365760" cy="365760"/>
          </a:xfrm>
          <a:prstGeom prst="rect"/>
        </p:spPr>
      </p:pic>
      <p:sp>
        <p:nvSpPr>
          <p:cNvPr id="1048616" name="Text 10"/>
          <p:cNvSpPr/>
          <p:nvPr/>
        </p:nvSpPr>
        <p:spPr>
          <a:xfrm>
            <a:off x="1005840" y="3090672"/>
            <a:ext cx="42976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for the padlock + https://</a:t>
            </a:r>
            <a:endParaRPr dirty="0" sz="1200" lang="en-US"/>
          </a:p>
        </p:txBody>
      </p:sp>
      <p:pic>
        <p:nvPicPr>
          <p:cNvPr id="209715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48640" y="3520440"/>
            <a:ext cx="365760" cy="365760"/>
          </a:xfrm>
          <a:prstGeom prst="rect"/>
        </p:spPr>
      </p:pic>
      <p:sp>
        <p:nvSpPr>
          <p:cNvPr id="1048617" name="Text 11"/>
          <p:cNvSpPr/>
          <p:nvPr/>
        </p:nvSpPr>
        <p:spPr>
          <a:xfrm>
            <a:off x="1005840" y="3547872"/>
            <a:ext cx="42976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domain spelling carefully before entering data</a:t>
            </a:r>
            <a:endParaRPr dirty="0" sz="1200" lang="en-US"/>
          </a:p>
        </p:txBody>
      </p:sp>
      <p:sp>
        <p:nvSpPr>
          <p:cNvPr id="1048618" name="Text 12"/>
          <p:cNvSpPr/>
          <p:nvPr/>
        </p:nvSpPr>
        <p:spPr>
          <a:xfrm>
            <a:off x="548640" y="3977640"/>
            <a:ext cx="46634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trusted sites instead of searching every time</a:t>
            </a:r>
            <a:endParaRPr dirty="0" sz="1100" lang="en-US"/>
          </a:p>
        </p:txBody>
      </p:sp>
      <p:sp>
        <p:nvSpPr>
          <p:cNvPr id="1048619" name="Shape 13"/>
          <p:cNvSpPr/>
          <p:nvPr/>
        </p:nvSpPr>
        <p:spPr>
          <a:xfrm>
            <a:off x="5577840" y="86868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20" name="Text 14"/>
          <p:cNvSpPr/>
          <p:nvPr/>
        </p:nvSpPr>
        <p:spPr>
          <a:xfrm>
            <a:off x="5715000" y="960120"/>
            <a:ext cx="2926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dirty="0" sz="1300" lang="en-US"/>
          </a:p>
        </p:txBody>
      </p:sp>
      <p:sp>
        <p:nvSpPr>
          <p:cNvPr id="1048621" name="Text 15"/>
          <p:cNvSpPr/>
          <p:nvPr/>
        </p:nvSpPr>
        <p:spPr>
          <a:xfrm>
            <a:off x="5715000" y="1371600"/>
            <a:ext cx="2926080" cy="324612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/ padlock icon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name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pop-ups or alerts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unusual info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looks low-quality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 / about page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 hides real link</a:t>
            </a:r>
            <a:endParaRPr dirty="0" sz="1200" lang="en-US"/>
          </a:p>
        </p:txBody>
      </p:sp>
      <p:sp>
        <p:nvSpPr>
          <p:cNvPr id="1048622" name="Shape 16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42" name="Text 1"/>
          <p:cNvSpPr/>
          <p:nvPr/>
        </p:nvSpPr>
        <p:spPr>
          <a:xfrm>
            <a:off x="45720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dirty="0" sz="2600" lang="en-US"/>
          </a:p>
        </p:txBody>
      </p:sp>
      <p:pic>
        <p:nvPicPr>
          <p:cNvPr id="209716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863840" y="137160"/>
            <a:ext cx="822960" cy="822960"/>
          </a:xfrm>
          <a:prstGeom prst="rect"/>
        </p:spPr>
      </p:pic>
      <p:sp>
        <p:nvSpPr>
          <p:cNvPr id="1048643" name="Shape 2"/>
          <p:cNvSpPr/>
          <p:nvPr/>
        </p:nvSpPr>
        <p:spPr>
          <a:xfrm>
            <a:off x="365760" y="8961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44" name="Shape 3"/>
          <p:cNvSpPr/>
          <p:nvPr/>
        </p:nvSpPr>
        <p:spPr>
          <a:xfrm>
            <a:off x="502920" y="1078992"/>
            <a:ext cx="502920" cy="502920"/>
          </a:xfrm>
          <a:prstGeom prst="ellipse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6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44068" y="1113739"/>
            <a:ext cx="420624" cy="420624"/>
          </a:xfrm>
          <a:prstGeom prst="rect"/>
        </p:spPr>
      </p:pic>
      <p:sp>
        <p:nvSpPr>
          <p:cNvPr id="1048645" name="Text 4"/>
          <p:cNvSpPr/>
          <p:nvPr/>
        </p:nvSpPr>
        <p:spPr>
          <a:xfrm>
            <a:off x="1143000" y="969264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dirty="0" sz="1400" lang="en-US"/>
          </a:p>
        </p:txBody>
      </p:sp>
      <p:sp>
        <p:nvSpPr>
          <p:cNvPr id="1048646" name="Text 5"/>
          <p:cNvSpPr/>
          <p:nvPr/>
        </p:nvSpPr>
        <p:spPr>
          <a:xfrm>
            <a:off x="1143000" y="1325880"/>
            <a:ext cx="74066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creates a fabricated scenario (e.g. pretending to be IT support) to extract information.</a:t>
            </a:r>
            <a:endParaRPr dirty="0" sz="1200" lang="en-US"/>
          </a:p>
        </p:txBody>
      </p:sp>
      <p:sp>
        <p:nvSpPr>
          <p:cNvPr id="1048647" name="Shape 6"/>
          <p:cNvSpPr/>
          <p:nvPr/>
        </p:nvSpPr>
        <p:spPr>
          <a:xfrm>
            <a:off x="365760" y="190195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48" name="Shape 7"/>
          <p:cNvSpPr/>
          <p:nvPr/>
        </p:nvSpPr>
        <p:spPr>
          <a:xfrm>
            <a:off x="502920" y="2084832"/>
            <a:ext cx="502920" cy="502920"/>
          </a:xfrm>
          <a:prstGeom prst="ellipse"/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097163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44068" y="2119579"/>
            <a:ext cx="420624" cy="420624"/>
          </a:xfrm>
          <a:prstGeom prst="rect"/>
        </p:spPr>
      </p:pic>
      <p:sp>
        <p:nvSpPr>
          <p:cNvPr id="1048649" name="Text 8"/>
          <p:cNvSpPr/>
          <p:nvPr/>
        </p:nvSpPr>
        <p:spPr>
          <a:xfrm>
            <a:off x="1143000" y="1975104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dirty="0" sz="1400" lang="en-US"/>
          </a:p>
        </p:txBody>
      </p:sp>
      <p:sp>
        <p:nvSpPr>
          <p:cNvPr id="1048650" name="Text 9"/>
          <p:cNvSpPr/>
          <p:nvPr/>
        </p:nvSpPr>
        <p:spPr>
          <a:xfrm>
            <a:off x="1143000" y="2331720"/>
            <a:ext cx="74066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something enticing (free software, prize) to lure victims into clicking malicious links.</a:t>
            </a:r>
            <a:endParaRPr dirty="0" sz="1200" lang="en-US"/>
          </a:p>
        </p:txBody>
      </p:sp>
      <p:sp>
        <p:nvSpPr>
          <p:cNvPr id="1048651" name="Shape 10"/>
          <p:cNvSpPr/>
          <p:nvPr/>
        </p:nvSpPr>
        <p:spPr>
          <a:xfrm>
            <a:off x="365760" y="29077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52" name="Shape 11"/>
          <p:cNvSpPr/>
          <p:nvPr/>
        </p:nvSpPr>
        <p:spPr>
          <a:xfrm>
            <a:off x="502920" y="3090672"/>
            <a:ext cx="502920" cy="502920"/>
          </a:xfrm>
          <a:prstGeom prst="ellipse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97164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44068" y="3125419"/>
            <a:ext cx="420624" cy="420624"/>
          </a:xfrm>
          <a:prstGeom prst="rect"/>
        </p:spPr>
      </p:pic>
      <p:sp>
        <p:nvSpPr>
          <p:cNvPr id="1048653" name="Text 12"/>
          <p:cNvSpPr/>
          <p:nvPr/>
        </p:nvSpPr>
        <p:spPr>
          <a:xfrm>
            <a:off x="1143000" y="2980944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Quid Pro Quo</a:t>
            </a:r>
            <a:endParaRPr dirty="0" sz="1400" lang="en-US"/>
          </a:p>
        </p:txBody>
      </p:sp>
      <p:sp>
        <p:nvSpPr>
          <p:cNvPr id="1048654" name="Text 13"/>
          <p:cNvSpPr/>
          <p:nvPr/>
        </p:nvSpPr>
        <p:spPr>
          <a:xfrm>
            <a:off x="1143000" y="3337560"/>
            <a:ext cx="74066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service (tech help, free account) in exchange for credentials or personal data.</a:t>
            </a:r>
            <a:endParaRPr dirty="0" sz="1200" lang="en-US"/>
          </a:p>
        </p:txBody>
      </p:sp>
      <p:sp>
        <p:nvSpPr>
          <p:cNvPr id="1048655" name="Shape 14"/>
          <p:cNvSpPr/>
          <p:nvPr/>
        </p:nvSpPr>
        <p:spPr>
          <a:xfrm>
            <a:off x="365760" y="391363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56" name="Shape 15"/>
          <p:cNvSpPr/>
          <p:nvPr/>
        </p:nvSpPr>
        <p:spPr>
          <a:xfrm>
            <a:off x="502920" y="4096512"/>
            <a:ext cx="502920" cy="502920"/>
          </a:xfrm>
          <a:prstGeom prst="ellipse"/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097165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544068" y="4131259"/>
            <a:ext cx="420624" cy="420624"/>
          </a:xfrm>
          <a:prstGeom prst="rect"/>
        </p:spPr>
      </p:pic>
      <p:sp>
        <p:nvSpPr>
          <p:cNvPr id="1048657" name="Text 16"/>
          <p:cNvSpPr/>
          <p:nvPr/>
        </p:nvSpPr>
        <p:spPr>
          <a:xfrm>
            <a:off x="1143000" y="3986784"/>
            <a:ext cx="20116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dirty="0" sz="1400" lang="en-US"/>
          </a:p>
        </p:txBody>
      </p:sp>
      <p:sp>
        <p:nvSpPr>
          <p:cNvPr id="1048658" name="Text 17"/>
          <p:cNvSpPr/>
          <p:nvPr/>
        </p:nvSpPr>
        <p:spPr>
          <a:xfrm>
            <a:off x="1143000" y="4343400"/>
            <a:ext cx="740664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following an authorized person through a secure door or gaining physical system access.</a:t>
            </a:r>
            <a:endParaRPr dirty="0" sz="1200" lang="en-US"/>
          </a:p>
        </p:txBody>
      </p:sp>
      <p:sp>
        <p:nvSpPr>
          <p:cNvPr id="1048659" name="Shape 18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73" name="Text 1"/>
          <p:cNvSpPr/>
          <p:nvPr/>
        </p:nvSpPr>
        <p:spPr>
          <a:xfrm>
            <a:off x="45720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PHISHING EXAMPLES</a:t>
            </a:r>
            <a:endParaRPr dirty="0" sz="2600" lang="en-US"/>
          </a:p>
        </p:txBody>
      </p:sp>
      <p:sp>
        <p:nvSpPr>
          <p:cNvPr id="1048674" name="Shape 2"/>
          <p:cNvSpPr/>
          <p:nvPr/>
        </p:nvSpPr>
        <p:spPr>
          <a:xfrm>
            <a:off x="365760" y="86868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75" name="Text 3"/>
          <p:cNvSpPr/>
          <p:nvPr/>
        </p:nvSpPr>
        <p:spPr>
          <a:xfrm>
            <a:off x="548640" y="960120"/>
            <a:ext cx="3657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</a:t>
            </a:r>
            <a:endParaRPr dirty="0" sz="1500" lang="en-US"/>
          </a:p>
        </p:txBody>
      </p:sp>
      <p:sp>
        <p:nvSpPr>
          <p:cNvPr id="1048676" name="Text 4"/>
          <p:cNvSpPr/>
          <p:nvPr/>
        </p:nvSpPr>
        <p:spPr>
          <a:xfrm>
            <a:off x="5029200" y="96012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2013–2015</a:t>
            </a:r>
            <a:endParaRPr dirty="0" sz="1200" lang="en-US"/>
          </a:p>
        </p:txBody>
      </p:sp>
      <p:sp>
        <p:nvSpPr>
          <p:cNvPr id="1048677" name="Shape 5"/>
          <p:cNvSpPr/>
          <p:nvPr/>
        </p:nvSpPr>
        <p:spPr>
          <a:xfrm>
            <a:off x="6583680" y="93268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62230">
              <a:alpha val="4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78" name="Text 6"/>
          <p:cNvSpPr/>
          <p:nvPr/>
        </p:nvSpPr>
        <p:spPr>
          <a:xfrm>
            <a:off x="6583680" y="960120"/>
            <a:ext cx="201168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</a:t>
            </a:r>
            <a:endParaRPr dirty="0" sz="1100" lang="en-US"/>
          </a:p>
        </p:txBody>
      </p:sp>
      <p:sp>
        <p:nvSpPr>
          <p:cNvPr id="1048679" name="Text 7"/>
          <p:cNvSpPr/>
          <p:nvPr/>
        </p:nvSpPr>
        <p:spPr>
          <a:xfrm>
            <a:off x="548640" y="1344168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scammer posed as a Taiwanese hardware vendor and sent fake invoices, tricking both companies into wiring over $100 million.</a:t>
            </a:r>
            <a:endParaRPr dirty="0" sz="1200" lang="en-US"/>
          </a:p>
        </p:txBody>
      </p:sp>
      <p:sp>
        <p:nvSpPr>
          <p:cNvPr id="1048680" name="Shape 8"/>
          <p:cNvSpPr/>
          <p:nvPr/>
        </p:nvSpPr>
        <p:spPr>
          <a:xfrm>
            <a:off x="365760" y="224028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81" name="Text 9"/>
          <p:cNvSpPr/>
          <p:nvPr/>
        </p:nvSpPr>
        <p:spPr>
          <a:xfrm>
            <a:off x="548640" y="2331720"/>
            <a:ext cx="3657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Pictures Hack</a:t>
            </a:r>
            <a:endParaRPr dirty="0" sz="1500" lang="en-US"/>
          </a:p>
        </p:txBody>
      </p:sp>
      <p:sp>
        <p:nvSpPr>
          <p:cNvPr id="1048682" name="Text 10"/>
          <p:cNvSpPr/>
          <p:nvPr/>
        </p:nvSpPr>
        <p:spPr>
          <a:xfrm>
            <a:off x="5029200" y="233172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dirty="0" sz="1200" lang="en-US"/>
          </a:p>
        </p:txBody>
      </p:sp>
      <p:sp>
        <p:nvSpPr>
          <p:cNvPr id="1048683" name="Shape 11"/>
          <p:cNvSpPr/>
          <p:nvPr/>
        </p:nvSpPr>
        <p:spPr>
          <a:xfrm>
            <a:off x="6583680" y="230428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62230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48684" name="Text 12"/>
          <p:cNvSpPr/>
          <p:nvPr/>
        </p:nvSpPr>
        <p:spPr>
          <a:xfrm>
            <a:off x="6583680" y="2331720"/>
            <a:ext cx="201168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Data Breach</a:t>
            </a:r>
            <a:endParaRPr dirty="0" sz="1100" lang="en-US"/>
          </a:p>
        </p:txBody>
      </p:sp>
      <p:sp>
        <p:nvSpPr>
          <p:cNvPr id="1048685" name="Text 13"/>
          <p:cNvSpPr/>
          <p:nvPr/>
        </p:nvSpPr>
        <p:spPr>
          <a:xfrm>
            <a:off x="548640" y="2715768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spear-phishing emails impersonating Apple ID verification, leading to credential theft and a devastating internal data breach.</a:t>
            </a:r>
            <a:endParaRPr dirty="0" sz="1200" lang="en-US"/>
          </a:p>
        </p:txBody>
      </p:sp>
      <p:sp>
        <p:nvSpPr>
          <p:cNvPr id="1048686" name="Shape 14"/>
          <p:cNvSpPr/>
          <p:nvPr/>
        </p:nvSpPr>
        <p:spPr>
          <a:xfrm>
            <a:off x="365760" y="361188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687" name="Text 15"/>
          <p:cNvSpPr/>
          <p:nvPr/>
        </p:nvSpPr>
        <p:spPr>
          <a:xfrm>
            <a:off x="548640" y="3703320"/>
            <a:ext cx="3657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Hack</a:t>
            </a:r>
            <a:endParaRPr dirty="0" sz="1500" lang="en-US"/>
          </a:p>
        </p:txBody>
      </p:sp>
      <p:sp>
        <p:nvSpPr>
          <p:cNvPr id="1048688" name="Text 16"/>
          <p:cNvSpPr/>
          <p:nvPr/>
        </p:nvSpPr>
        <p:spPr>
          <a:xfrm>
            <a:off x="5029200" y="370332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dirty="0" sz="1200" lang="en-US"/>
          </a:p>
        </p:txBody>
      </p:sp>
      <p:sp>
        <p:nvSpPr>
          <p:cNvPr id="1048689" name="Shape 17"/>
          <p:cNvSpPr/>
          <p:nvPr/>
        </p:nvSpPr>
        <p:spPr>
          <a:xfrm>
            <a:off x="6583680" y="367588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62230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690" name="Text 18"/>
          <p:cNvSpPr/>
          <p:nvPr/>
        </p:nvSpPr>
        <p:spPr>
          <a:xfrm>
            <a:off x="6583680" y="3703320"/>
            <a:ext cx="201168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Accounts Taken</a:t>
            </a:r>
            <a:endParaRPr dirty="0" sz="1100" lang="en-US"/>
          </a:p>
        </p:txBody>
      </p:sp>
      <p:sp>
        <p:nvSpPr>
          <p:cNvPr id="1048691" name="Text 19"/>
          <p:cNvSpPr/>
          <p:nvPr/>
        </p:nvSpPr>
        <p:spPr>
          <a:xfrm>
            <a:off x="548640" y="4087368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 vishing to trick Twitter employees into giving credentials, hijacking accounts of Obama, Biden, Musk, and Apple.</a:t>
            </a:r>
            <a:endParaRPr dirty="0" sz="1200" lang="en-US"/>
          </a:p>
        </p:txBody>
      </p:sp>
      <p:sp>
        <p:nvSpPr>
          <p:cNvPr id="1048692" name="Shape 20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97" name="Text 1"/>
          <p:cNvSpPr/>
          <p:nvPr/>
        </p:nvSpPr>
        <p:spPr>
          <a:xfrm>
            <a:off x="45720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dirty="0" sz="2600" lang="en-US"/>
          </a:p>
        </p:txBody>
      </p:sp>
      <p:sp>
        <p:nvSpPr>
          <p:cNvPr id="1048698" name="Shape 2"/>
          <p:cNvSpPr/>
          <p:nvPr/>
        </p:nvSpPr>
        <p:spPr>
          <a:xfrm>
            <a:off x="274320" y="86868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pic>
        <p:nvPicPr>
          <p:cNvPr id="209716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11480" y="960120"/>
            <a:ext cx="365760" cy="365760"/>
          </a:xfrm>
          <a:prstGeom prst="rect"/>
        </p:spPr>
      </p:pic>
      <p:sp>
        <p:nvSpPr>
          <p:cNvPr id="1048699" name="Text 3"/>
          <p:cNvSpPr/>
          <p:nvPr/>
        </p:nvSpPr>
        <p:spPr>
          <a:xfrm>
            <a:off x="868680" y="1005840"/>
            <a:ext cx="3474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dirty="0" sz="1600" lang="en-US"/>
          </a:p>
        </p:txBody>
      </p:sp>
      <p:sp>
        <p:nvSpPr>
          <p:cNvPr id="1048700" name="Text 4"/>
          <p:cNvSpPr/>
          <p:nvPr/>
        </p:nvSpPr>
        <p:spPr>
          <a:xfrm>
            <a:off x="411480" y="1444752"/>
            <a:ext cx="3886200" cy="32918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email address carefully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&amp; antivirus updated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dirty="0" sz="1200" lang="en-US"/>
          </a:p>
        </p:txBody>
      </p:sp>
      <p:sp>
        <p:nvSpPr>
          <p:cNvPr id="1048701" name="Shape 5"/>
          <p:cNvSpPr/>
          <p:nvPr/>
        </p:nvSpPr>
        <p:spPr>
          <a:xfrm>
            <a:off x="4709160" y="86868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pic>
        <p:nvPicPr>
          <p:cNvPr id="209716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846320" y="960120"/>
            <a:ext cx="365760" cy="365760"/>
          </a:xfrm>
          <a:prstGeom prst="rect"/>
        </p:spPr>
      </p:pic>
      <p:sp>
        <p:nvSpPr>
          <p:cNvPr id="1048702" name="Text 6"/>
          <p:cNvSpPr/>
          <p:nvPr/>
        </p:nvSpPr>
        <p:spPr>
          <a:xfrm>
            <a:off x="5303520" y="1005840"/>
            <a:ext cx="3474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dirty="0" sz="1600" lang="en-US"/>
          </a:p>
        </p:txBody>
      </p:sp>
      <p:sp>
        <p:nvSpPr>
          <p:cNvPr id="1048703" name="Text 7"/>
          <p:cNvSpPr/>
          <p:nvPr/>
        </p:nvSpPr>
        <p:spPr>
          <a:xfrm>
            <a:off x="4846320" y="1444752"/>
            <a:ext cx="3886200" cy="3291840"/>
          </a:xfrm>
          <a:prstGeom prst="rect"/>
          <a:noFill/>
        </p:spPr>
        <p:txBody>
          <a:bodyPr anchor="ctr" bIns="0" lIns="0" rIns="0" rtlCol="0" tIns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links in unexpected emails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attachments from unknown senders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passwords via email or chat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browser security warnings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password everywhere</a:t>
            </a:r>
            <a:endParaRPr dirty="0" sz="1200" lang="en-US"/>
          </a:p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caller ID alone for identity</a:t>
            </a:r>
            <a:endParaRPr dirty="0" sz="1200" lang="en-US"/>
          </a:p>
        </p:txBody>
      </p:sp>
      <p:sp>
        <p:nvSpPr>
          <p:cNvPr id="1048704" name="Shape 8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6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64592"/>
            <a:ext cx="502920" cy="502920"/>
          </a:xfrm>
          <a:prstGeom prst="rect"/>
        </p:spPr>
      </p:pic>
      <p:sp>
        <p:nvSpPr>
          <p:cNvPr id="1048709" name="Text 1"/>
          <p:cNvSpPr/>
          <p:nvPr/>
        </p:nvSpPr>
        <p:spPr>
          <a:xfrm>
            <a:off x="960120" y="18288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 1 of 3</a:t>
            </a:r>
            <a:endParaRPr dirty="0" sz="2200" lang="en-US"/>
          </a:p>
        </p:txBody>
      </p:sp>
      <p:sp>
        <p:nvSpPr>
          <p:cNvPr id="1048710" name="Shape 2"/>
          <p:cNvSpPr/>
          <p:nvPr/>
        </p:nvSpPr>
        <p:spPr>
          <a:xfrm>
            <a:off x="365760" y="8229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11" name="Text 3"/>
          <p:cNvSpPr/>
          <p:nvPr/>
        </p:nvSpPr>
        <p:spPr>
          <a:xfrm>
            <a:off x="548640" y="886968"/>
            <a:ext cx="804672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'support@paypa1-secure.com' saying your account is suspended. It asks you to click a link and verify your password. What do you do?</a:t>
            </a:r>
            <a:endParaRPr dirty="0" sz="1400" lang="en-US"/>
          </a:p>
        </p:txBody>
      </p:sp>
      <p:sp>
        <p:nvSpPr>
          <p:cNvPr id="1048712" name="Shape 4"/>
          <p:cNvSpPr/>
          <p:nvPr/>
        </p:nvSpPr>
        <p:spPr>
          <a:xfrm>
            <a:off x="365760" y="19659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13" name="Text 5"/>
          <p:cNvSpPr/>
          <p:nvPr/>
        </p:nvSpPr>
        <p:spPr>
          <a:xfrm>
            <a:off x="548640" y="205740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400" lang="en-US"/>
          </a:p>
        </p:txBody>
      </p:sp>
      <p:sp>
        <p:nvSpPr>
          <p:cNvPr id="1048714" name="Text 6"/>
          <p:cNvSpPr/>
          <p:nvPr/>
        </p:nvSpPr>
        <p:spPr>
          <a:xfrm>
            <a:off x="1051560" y="207568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and verify your password immediately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15" name="Shape 11"/>
          <p:cNvSpPr/>
          <p:nvPr/>
        </p:nvSpPr>
        <p:spPr>
          <a:xfrm>
            <a:off x="365760" y="3429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16" name="Text 12"/>
          <p:cNvSpPr/>
          <p:nvPr/>
        </p:nvSpPr>
        <p:spPr>
          <a:xfrm>
            <a:off x="548640" y="35204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400" lang="en-US"/>
          </a:p>
        </p:txBody>
      </p:sp>
      <p:sp>
        <p:nvSpPr>
          <p:cNvPr id="1048717" name="Text 13"/>
          <p:cNvSpPr/>
          <p:nvPr/>
        </p:nvSpPr>
        <p:spPr>
          <a:xfrm>
            <a:off x="1051560" y="353872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colleague to check for you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18" name="Shape 14"/>
          <p:cNvSpPr/>
          <p:nvPr/>
        </p:nvSpPr>
        <p:spPr>
          <a:xfrm>
            <a:off x="365760" y="41605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19" name="Text 15"/>
          <p:cNvSpPr/>
          <p:nvPr/>
        </p:nvSpPr>
        <p:spPr>
          <a:xfrm>
            <a:off x="548640" y="425196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400" lang="en-US"/>
          </a:p>
        </p:txBody>
      </p:sp>
      <p:sp>
        <p:nvSpPr>
          <p:cNvPr id="1048720" name="Text 16"/>
          <p:cNvSpPr/>
          <p:nvPr/>
        </p:nvSpPr>
        <p:spPr>
          <a:xfrm>
            <a:off x="1051560" y="427024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asking if it is legitimate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21" name="Shape 17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722" name="Shape 4"/>
          <p:cNvSpPr/>
          <p:nvPr/>
        </p:nvSpPr>
        <p:spPr>
          <a:xfrm>
            <a:off x="365760" y="269290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23" name="Text 9"/>
          <p:cNvSpPr/>
          <p:nvPr/>
        </p:nvSpPr>
        <p:spPr>
          <a:xfrm>
            <a:off x="1051560" y="2807208"/>
            <a:ext cx="7498080" cy="365760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b="0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address — 'paypa1' is misspelled. Do NOT click. Report it.</a:t>
            </a:r>
            <a:endParaRPr b="0" dirty="0" sz="1300" lang="en-US">
              <a:solidFill>
                <a:srgbClr val="FFFFFF"/>
              </a:solidFill>
            </a:endParaRPr>
          </a:p>
        </p:txBody>
      </p:sp>
      <p:sp>
        <p:nvSpPr>
          <p:cNvPr id="1048724" name="Text 8"/>
          <p:cNvSpPr/>
          <p:nvPr/>
        </p:nvSpPr>
        <p:spPr>
          <a:xfrm>
            <a:off x="548640" y="2788920"/>
            <a:ext cx="365760" cy="365760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buNone/>
            </a:pPr>
            <a:r>
              <a:rPr b="1" dirty="0" sz="1400" lang="en-US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400" lang="en-US">
              <a:solidFill>
                <a:srgbClr val="8080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64592"/>
            <a:ext cx="502920" cy="502920"/>
          </a:xfrm>
          <a:prstGeom prst="rect"/>
        </p:spPr>
      </p:pic>
      <p:sp>
        <p:nvSpPr>
          <p:cNvPr id="1048729" name="Text 1"/>
          <p:cNvSpPr/>
          <p:nvPr/>
        </p:nvSpPr>
        <p:spPr>
          <a:xfrm>
            <a:off x="960120" y="18288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 1 of 3</a:t>
            </a:r>
            <a:endParaRPr dirty="0" sz="2200" lang="en-US"/>
          </a:p>
        </p:txBody>
      </p:sp>
      <p:sp>
        <p:nvSpPr>
          <p:cNvPr id="1048730" name="Shape 2"/>
          <p:cNvSpPr/>
          <p:nvPr/>
        </p:nvSpPr>
        <p:spPr>
          <a:xfrm>
            <a:off x="365760" y="8229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31" name="Text 3"/>
          <p:cNvSpPr/>
          <p:nvPr/>
        </p:nvSpPr>
        <p:spPr>
          <a:xfrm>
            <a:off x="548640" y="886968"/>
            <a:ext cx="804672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'support@paypa1-secure.com' saying your account is suspended. It asks you to click a link and verify your password. What do you do?</a:t>
            </a:r>
            <a:endParaRPr dirty="0" sz="1400" lang="en-US"/>
          </a:p>
        </p:txBody>
      </p:sp>
      <p:sp>
        <p:nvSpPr>
          <p:cNvPr id="1048732" name="Shape 4"/>
          <p:cNvSpPr/>
          <p:nvPr/>
        </p:nvSpPr>
        <p:spPr>
          <a:xfrm>
            <a:off x="365760" y="19659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33" name="Text 5"/>
          <p:cNvSpPr/>
          <p:nvPr/>
        </p:nvSpPr>
        <p:spPr>
          <a:xfrm>
            <a:off x="548640" y="205740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400" lang="en-US"/>
          </a:p>
        </p:txBody>
      </p:sp>
      <p:sp>
        <p:nvSpPr>
          <p:cNvPr id="1048734" name="Text 6"/>
          <p:cNvSpPr/>
          <p:nvPr/>
        </p:nvSpPr>
        <p:spPr>
          <a:xfrm>
            <a:off x="1051560" y="207568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and verify your password immediately</a:t>
            </a:r>
            <a:endParaRPr dirty="0" sz="1300" lang="en-US"/>
          </a:p>
        </p:txBody>
      </p:sp>
      <p:sp>
        <p:nvSpPr>
          <p:cNvPr id="1048735" name="Shape 7"/>
          <p:cNvSpPr/>
          <p:nvPr/>
        </p:nvSpPr>
        <p:spPr>
          <a:xfrm>
            <a:off x="365760" y="26974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36" name="Text 8"/>
          <p:cNvSpPr/>
          <p:nvPr/>
        </p:nvSpPr>
        <p:spPr>
          <a:xfrm>
            <a:off x="548640" y="278892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400" lang="en-US"/>
          </a:p>
        </p:txBody>
      </p:sp>
      <p:sp>
        <p:nvSpPr>
          <p:cNvPr id="1048737" name="Text 9"/>
          <p:cNvSpPr/>
          <p:nvPr/>
        </p:nvSpPr>
        <p:spPr>
          <a:xfrm>
            <a:off x="1051560" y="280720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address — 'paypa1' is misspelled. Do NOT click. Report it.</a:t>
            </a:r>
            <a:endParaRPr dirty="0" sz="1300" lang="en-US"/>
          </a:p>
        </p:txBody>
      </p:sp>
      <p:sp>
        <p:nvSpPr>
          <p:cNvPr id="1048738" name="Text 10"/>
          <p:cNvSpPr/>
          <p:nvPr/>
        </p:nvSpPr>
        <p:spPr>
          <a:xfrm>
            <a:off x="7132320" y="2807208"/>
            <a:ext cx="14630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b="1" dirty="0" sz="11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dirty="0" sz="1100" lang="en-US"/>
          </a:p>
        </p:txBody>
      </p:sp>
      <p:sp>
        <p:nvSpPr>
          <p:cNvPr id="1048739" name="Shape 11"/>
          <p:cNvSpPr/>
          <p:nvPr/>
        </p:nvSpPr>
        <p:spPr>
          <a:xfrm>
            <a:off x="365760" y="3429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40" name="Text 12"/>
          <p:cNvSpPr/>
          <p:nvPr/>
        </p:nvSpPr>
        <p:spPr>
          <a:xfrm>
            <a:off x="548640" y="35204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400" lang="en-US"/>
          </a:p>
        </p:txBody>
      </p:sp>
      <p:sp>
        <p:nvSpPr>
          <p:cNvPr id="1048741" name="Text 13"/>
          <p:cNvSpPr/>
          <p:nvPr/>
        </p:nvSpPr>
        <p:spPr>
          <a:xfrm>
            <a:off x="1051560" y="353872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colleague to check for you</a:t>
            </a:r>
            <a:endParaRPr dirty="0" sz="1300" lang="en-US"/>
          </a:p>
        </p:txBody>
      </p:sp>
      <p:sp>
        <p:nvSpPr>
          <p:cNvPr id="1048742" name="Shape 14"/>
          <p:cNvSpPr/>
          <p:nvPr/>
        </p:nvSpPr>
        <p:spPr>
          <a:xfrm>
            <a:off x="365760" y="41605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43" name="Text 15"/>
          <p:cNvSpPr/>
          <p:nvPr/>
        </p:nvSpPr>
        <p:spPr>
          <a:xfrm>
            <a:off x="548640" y="425196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400" lang="en-US"/>
          </a:p>
        </p:txBody>
      </p:sp>
      <p:sp>
        <p:nvSpPr>
          <p:cNvPr id="1048744" name="Text 16"/>
          <p:cNvSpPr/>
          <p:nvPr/>
        </p:nvSpPr>
        <p:spPr>
          <a:xfrm>
            <a:off x="1051560" y="427024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asking if it is legitimate</a:t>
            </a:r>
            <a:endParaRPr dirty="0" sz="1300" lang="en-US"/>
          </a:p>
        </p:txBody>
      </p:sp>
      <p:sp>
        <p:nvSpPr>
          <p:cNvPr id="1048745" name="Shape 17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64592"/>
            <a:ext cx="502920" cy="502920"/>
          </a:xfrm>
          <a:prstGeom prst="rect"/>
        </p:spPr>
      </p:pic>
      <p:sp>
        <p:nvSpPr>
          <p:cNvPr id="1048750" name="Text 1"/>
          <p:cNvSpPr/>
          <p:nvPr/>
        </p:nvSpPr>
        <p:spPr>
          <a:xfrm>
            <a:off x="960120" y="18288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 2 of 3</a:t>
            </a:r>
            <a:endParaRPr dirty="0" sz="2200" lang="en-US"/>
          </a:p>
        </p:txBody>
      </p:sp>
      <p:sp>
        <p:nvSpPr>
          <p:cNvPr id="1048751" name="Shape 2"/>
          <p:cNvSpPr/>
          <p:nvPr/>
        </p:nvSpPr>
        <p:spPr>
          <a:xfrm>
            <a:off x="365760" y="822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52" name="Text 3"/>
          <p:cNvSpPr/>
          <p:nvPr/>
        </p:nvSpPr>
        <p:spPr>
          <a:xfrm>
            <a:off x="548640" y="886968"/>
            <a:ext cx="804672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 sign that a website might be fake?</a:t>
            </a:r>
            <a:endParaRPr dirty="0" sz="1400" lang="en-US"/>
          </a:p>
        </p:txBody>
      </p:sp>
      <p:sp>
        <p:nvSpPr>
          <p:cNvPr id="1048753" name="Shape 4"/>
          <p:cNvSpPr/>
          <p:nvPr/>
        </p:nvSpPr>
        <p:spPr>
          <a:xfrm>
            <a:off x="365760" y="17830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54" name="Text 5"/>
          <p:cNvSpPr/>
          <p:nvPr/>
        </p:nvSpPr>
        <p:spPr>
          <a:xfrm>
            <a:off x="548640" y="187452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400" lang="en-US"/>
          </a:p>
        </p:txBody>
      </p:sp>
      <p:sp>
        <p:nvSpPr>
          <p:cNvPr id="1048755" name="Text 6"/>
          <p:cNvSpPr/>
          <p:nvPr/>
        </p:nvSpPr>
        <p:spPr>
          <a:xfrm>
            <a:off x="1051560" y="189280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starts with https:// and shows a padlock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56" name="Shape 11"/>
          <p:cNvSpPr/>
          <p:nvPr/>
        </p:nvSpPr>
        <p:spPr>
          <a:xfrm>
            <a:off x="365760" y="32461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57" name="Text 12"/>
          <p:cNvSpPr/>
          <p:nvPr/>
        </p:nvSpPr>
        <p:spPr>
          <a:xfrm>
            <a:off x="548640" y="333756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400" lang="en-US"/>
          </a:p>
        </p:txBody>
      </p:sp>
      <p:sp>
        <p:nvSpPr>
          <p:cNvPr id="1048758" name="Text 13"/>
          <p:cNvSpPr/>
          <p:nvPr/>
        </p:nvSpPr>
        <p:spPr>
          <a:xfrm>
            <a:off x="1051560" y="335584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has an About Us and Contact page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59" name="Shape 14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60" name="Text 15"/>
          <p:cNvSpPr/>
          <p:nvPr/>
        </p:nvSpPr>
        <p:spPr>
          <a:xfrm>
            <a:off x="548640" y="406908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400" lang="en-US"/>
          </a:p>
        </p:txBody>
      </p:sp>
      <p:sp>
        <p:nvSpPr>
          <p:cNvPr id="1048761" name="Text 16"/>
          <p:cNvSpPr/>
          <p:nvPr/>
        </p:nvSpPr>
        <p:spPr>
          <a:xfrm>
            <a:off x="1051560" y="408736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matches the company's known domain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62" name="Shape 17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763" name="Shape 4"/>
          <p:cNvSpPr/>
          <p:nvPr/>
        </p:nvSpPr>
        <p:spPr>
          <a:xfrm>
            <a:off x="365760" y="25100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64" name="Text 5"/>
          <p:cNvSpPr/>
          <p:nvPr/>
        </p:nvSpPr>
        <p:spPr>
          <a:xfrm>
            <a:off x="548639" y="2606039"/>
            <a:ext cx="365760" cy="365760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400" lang="en-US"/>
          </a:p>
        </p:txBody>
      </p:sp>
      <p:sp>
        <p:nvSpPr>
          <p:cNvPr id="1048765" name="Text 9"/>
          <p:cNvSpPr/>
          <p:nvPr/>
        </p:nvSpPr>
        <p:spPr>
          <a:xfrm>
            <a:off x="1051560" y="2624328"/>
            <a:ext cx="7498080" cy="365760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b="0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uses http:// (no S) and has unusual subdomains</a:t>
            </a:r>
            <a:endParaRPr b="0" dirty="0" sz="1300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64592"/>
            <a:ext cx="502920" cy="502920"/>
          </a:xfrm>
          <a:prstGeom prst="rect"/>
        </p:spPr>
      </p:pic>
      <p:sp>
        <p:nvSpPr>
          <p:cNvPr id="1048770" name="Text 1"/>
          <p:cNvSpPr/>
          <p:nvPr/>
        </p:nvSpPr>
        <p:spPr>
          <a:xfrm>
            <a:off x="960120" y="18288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 2 of 3</a:t>
            </a:r>
            <a:endParaRPr dirty="0" sz="2200" lang="en-US"/>
          </a:p>
        </p:txBody>
      </p:sp>
      <p:sp>
        <p:nvSpPr>
          <p:cNvPr id="1048771" name="Shape 2"/>
          <p:cNvSpPr/>
          <p:nvPr/>
        </p:nvSpPr>
        <p:spPr>
          <a:xfrm>
            <a:off x="365760" y="822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72" name="Text 3"/>
          <p:cNvSpPr/>
          <p:nvPr/>
        </p:nvSpPr>
        <p:spPr>
          <a:xfrm>
            <a:off x="548640" y="886968"/>
            <a:ext cx="804672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 sign that a website might be fake?</a:t>
            </a:r>
            <a:endParaRPr dirty="0" sz="1400" lang="en-US"/>
          </a:p>
        </p:txBody>
      </p:sp>
      <p:sp>
        <p:nvSpPr>
          <p:cNvPr id="1048773" name="Shape 4"/>
          <p:cNvSpPr/>
          <p:nvPr/>
        </p:nvSpPr>
        <p:spPr>
          <a:xfrm>
            <a:off x="365760" y="17830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74" name="Text 5"/>
          <p:cNvSpPr/>
          <p:nvPr/>
        </p:nvSpPr>
        <p:spPr>
          <a:xfrm>
            <a:off x="548640" y="187452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400" lang="en-US"/>
          </a:p>
        </p:txBody>
      </p:sp>
      <p:sp>
        <p:nvSpPr>
          <p:cNvPr id="1048775" name="Text 6"/>
          <p:cNvSpPr/>
          <p:nvPr/>
        </p:nvSpPr>
        <p:spPr>
          <a:xfrm>
            <a:off x="1051560" y="189280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starts with https:// and shows a padlock</a:t>
            </a:r>
            <a:endParaRPr dirty="0" sz="1300" lang="en-US"/>
          </a:p>
        </p:txBody>
      </p:sp>
      <p:sp>
        <p:nvSpPr>
          <p:cNvPr id="1048776" name="Shape 7"/>
          <p:cNvSpPr/>
          <p:nvPr/>
        </p:nvSpPr>
        <p:spPr>
          <a:xfrm>
            <a:off x="365760" y="25146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77" name="Text 8"/>
          <p:cNvSpPr/>
          <p:nvPr/>
        </p:nvSpPr>
        <p:spPr>
          <a:xfrm>
            <a:off x="548640" y="26060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400" lang="en-US"/>
          </a:p>
        </p:txBody>
      </p:sp>
      <p:sp>
        <p:nvSpPr>
          <p:cNvPr id="1048778" name="Text 9"/>
          <p:cNvSpPr/>
          <p:nvPr/>
        </p:nvSpPr>
        <p:spPr>
          <a:xfrm>
            <a:off x="1051560" y="262432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uses http:// (no S) and has unusual subdomains</a:t>
            </a:r>
            <a:endParaRPr dirty="0" sz="1300" lang="en-US"/>
          </a:p>
        </p:txBody>
      </p:sp>
      <p:sp>
        <p:nvSpPr>
          <p:cNvPr id="1048779" name="Text 10"/>
          <p:cNvSpPr/>
          <p:nvPr/>
        </p:nvSpPr>
        <p:spPr>
          <a:xfrm>
            <a:off x="7132320" y="2624328"/>
            <a:ext cx="14630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b="1" dirty="0" sz="11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dirty="0" sz="1100" lang="en-US"/>
          </a:p>
        </p:txBody>
      </p:sp>
      <p:sp>
        <p:nvSpPr>
          <p:cNvPr id="1048780" name="Shape 11"/>
          <p:cNvSpPr/>
          <p:nvPr/>
        </p:nvSpPr>
        <p:spPr>
          <a:xfrm>
            <a:off x="365760" y="32461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81" name="Text 12"/>
          <p:cNvSpPr/>
          <p:nvPr/>
        </p:nvSpPr>
        <p:spPr>
          <a:xfrm>
            <a:off x="548640" y="333756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400" lang="en-US"/>
          </a:p>
        </p:txBody>
      </p:sp>
      <p:sp>
        <p:nvSpPr>
          <p:cNvPr id="1048782" name="Text 13"/>
          <p:cNvSpPr/>
          <p:nvPr/>
        </p:nvSpPr>
        <p:spPr>
          <a:xfrm>
            <a:off x="1051560" y="335584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has an About Us and Contact page</a:t>
            </a:r>
            <a:endParaRPr dirty="0" sz="1300" lang="en-US"/>
          </a:p>
        </p:txBody>
      </p:sp>
      <p:sp>
        <p:nvSpPr>
          <p:cNvPr id="1048783" name="Shape 14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84" name="Text 15"/>
          <p:cNvSpPr/>
          <p:nvPr/>
        </p:nvSpPr>
        <p:spPr>
          <a:xfrm>
            <a:off x="548640" y="406908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400" lang="en-US"/>
          </a:p>
        </p:txBody>
      </p:sp>
      <p:sp>
        <p:nvSpPr>
          <p:cNvPr id="1048785" name="Text 16"/>
          <p:cNvSpPr/>
          <p:nvPr/>
        </p:nvSpPr>
        <p:spPr>
          <a:xfrm>
            <a:off x="1051560" y="408736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matches the company's known domain</a:t>
            </a:r>
            <a:endParaRPr dirty="0" sz="1300" lang="en-US"/>
          </a:p>
        </p:txBody>
      </p:sp>
      <p:sp>
        <p:nvSpPr>
          <p:cNvPr id="1048786" name="Shape 17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64592"/>
            <a:ext cx="502920" cy="502920"/>
          </a:xfrm>
          <a:prstGeom prst="rect"/>
        </p:spPr>
      </p:pic>
      <p:sp>
        <p:nvSpPr>
          <p:cNvPr id="1048791" name="Text 1"/>
          <p:cNvSpPr/>
          <p:nvPr/>
        </p:nvSpPr>
        <p:spPr>
          <a:xfrm>
            <a:off x="960120" y="18288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 3 of 3</a:t>
            </a:r>
            <a:endParaRPr dirty="0" sz="2200" lang="en-US"/>
          </a:p>
        </p:txBody>
      </p:sp>
      <p:sp>
        <p:nvSpPr>
          <p:cNvPr id="1048792" name="Shape 2"/>
          <p:cNvSpPr/>
          <p:nvPr/>
        </p:nvSpPr>
        <p:spPr>
          <a:xfrm>
            <a:off x="365760" y="822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93" name="Text 3"/>
          <p:cNvSpPr/>
          <p:nvPr/>
        </p:nvSpPr>
        <p:spPr>
          <a:xfrm>
            <a:off x="548640" y="886968"/>
            <a:ext cx="804672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 support person calls you and asks for your login password to fix a system issue. What should you do?</a:t>
            </a:r>
            <a:endParaRPr dirty="0" sz="1400" lang="en-US"/>
          </a:p>
        </p:txBody>
      </p:sp>
      <p:sp>
        <p:nvSpPr>
          <p:cNvPr id="1048794" name="Shape 4"/>
          <p:cNvSpPr/>
          <p:nvPr/>
        </p:nvSpPr>
        <p:spPr>
          <a:xfrm>
            <a:off x="365760" y="17830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95" name="Text 5"/>
          <p:cNvSpPr/>
          <p:nvPr/>
        </p:nvSpPr>
        <p:spPr>
          <a:xfrm>
            <a:off x="548640" y="187452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400" lang="en-US"/>
          </a:p>
        </p:txBody>
      </p:sp>
      <p:sp>
        <p:nvSpPr>
          <p:cNvPr id="1048796" name="Text 6"/>
          <p:cNvSpPr/>
          <p:nvPr/>
        </p:nvSpPr>
        <p:spPr>
          <a:xfrm>
            <a:off x="1051560" y="189280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password — IT staff are trustworthy</a:t>
            </a:r>
            <a:endParaRPr dirty="0" sz="1300" lang="en-US">
              <a:solidFill>
                <a:srgbClr val="FFFFFF"/>
              </a:solidFill>
            </a:endParaRPr>
          </a:p>
        </p:txBody>
      </p:sp>
      <p:sp>
        <p:nvSpPr>
          <p:cNvPr id="1048797" name="Shape 7"/>
          <p:cNvSpPr/>
          <p:nvPr/>
        </p:nvSpPr>
        <p:spPr>
          <a:xfrm>
            <a:off x="365760" y="25146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798" name="Text 8"/>
          <p:cNvSpPr/>
          <p:nvPr/>
        </p:nvSpPr>
        <p:spPr>
          <a:xfrm>
            <a:off x="548640" y="26060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400" lang="en-US"/>
          </a:p>
        </p:txBody>
      </p:sp>
      <p:sp>
        <p:nvSpPr>
          <p:cNvPr id="1048799" name="Text 9"/>
          <p:cNvSpPr/>
          <p:nvPr/>
        </p:nvSpPr>
        <p:spPr>
          <a:xfrm>
            <a:off x="1051560" y="262432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send the request by email instead</a:t>
            </a:r>
            <a:endParaRPr dirty="0" sz="1300" lang="en-US"/>
          </a:p>
        </p:txBody>
      </p:sp>
      <p:sp>
        <p:nvSpPr>
          <p:cNvPr id="1048800" name="Shape 14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01" name="Text 15"/>
          <p:cNvSpPr/>
          <p:nvPr/>
        </p:nvSpPr>
        <p:spPr>
          <a:xfrm>
            <a:off x="548640" y="406908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400" lang="en-US"/>
          </a:p>
        </p:txBody>
      </p:sp>
      <p:sp>
        <p:nvSpPr>
          <p:cNvPr id="1048802" name="Text 16"/>
          <p:cNvSpPr/>
          <p:nvPr/>
        </p:nvSpPr>
        <p:spPr>
          <a:xfrm>
            <a:off x="1051560" y="408736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fake password to test if they are really IT</a:t>
            </a:r>
            <a:endParaRPr dirty="0" sz="1300" lang="en-US"/>
          </a:p>
        </p:txBody>
      </p:sp>
      <p:sp>
        <p:nvSpPr>
          <p:cNvPr id="1048803" name="Shape 17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804" name="Shape 7"/>
          <p:cNvSpPr/>
          <p:nvPr/>
        </p:nvSpPr>
        <p:spPr>
          <a:xfrm>
            <a:off x="365759" y="32461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05" name="Text 8"/>
          <p:cNvSpPr/>
          <p:nvPr/>
        </p:nvSpPr>
        <p:spPr>
          <a:xfrm>
            <a:off x="548640" y="3360419"/>
            <a:ext cx="365760" cy="365760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400" lang="en-US"/>
          </a:p>
        </p:txBody>
      </p:sp>
      <p:sp>
        <p:nvSpPr>
          <p:cNvPr id="1048806" name="Text 12"/>
          <p:cNvSpPr/>
          <p:nvPr/>
        </p:nvSpPr>
        <p:spPr>
          <a:xfrm>
            <a:off x="1051560" y="3355848"/>
            <a:ext cx="7498080" cy="365760"/>
          </a:xfrm>
          <a:prstGeom prst="rect"/>
          <a:noFill/>
        </p:spPr>
        <p:txBody>
          <a:bodyPr anchor="ctr" bIns="0" lIns="0" rIns="0" rtlCol="0" tIns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b="0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— legitimate IT will never ask for your passw</a:t>
            </a:r>
            <a:r>
              <a:rPr b="0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</a:t>
            </a:r>
            <a:endParaRPr b="0" dirty="0" sz="1300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5760" y="164592"/>
            <a:ext cx="502920" cy="502920"/>
          </a:xfrm>
          <a:prstGeom prst="rect"/>
        </p:spPr>
      </p:pic>
      <p:sp>
        <p:nvSpPr>
          <p:cNvPr id="1048811" name="Text 1"/>
          <p:cNvSpPr/>
          <p:nvPr/>
        </p:nvSpPr>
        <p:spPr>
          <a:xfrm>
            <a:off x="960120" y="182880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 3 of 3</a:t>
            </a:r>
            <a:endParaRPr dirty="0" sz="2200" lang="en-US"/>
          </a:p>
        </p:txBody>
      </p:sp>
      <p:sp>
        <p:nvSpPr>
          <p:cNvPr id="1048812" name="Shape 2"/>
          <p:cNvSpPr/>
          <p:nvPr/>
        </p:nvSpPr>
        <p:spPr>
          <a:xfrm>
            <a:off x="365760" y="822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13" name="Text 3"/>
          <p:cNvSpPr/>
          <p:nvPr/>
        </p:nvSpPr>
        <p:spPr>
          <a:xfrm>
            <a:off x="548640" y="886968"/>
            <a:ext cx="804672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 support person calls you and asks for your login password to fix a system issue. What should you do?</a:t>
            </a:r>
            <a:endParaRPr dirty="0" sz="1400" lang="en-US"/>
          </a:p>
        </p:txBody>
      </p:sp>
      <p:sp>
        <p:nvSpPr>
          <p:cNvPr id="1048814" name="Shape 4"/>
          <p:cNvSpPr/>
          <p:nvPr/>
        </p:nvSpPr>
        <p:spPr>
          <a:xfrm>
            <a:off x="365760" y="17830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15" name="Text 5"/>
          <p:cNvSpPr/>
          <p:nvPr/>
        </p:nvSpPr>
        <p:spPr>
          <a:xfrm>
            <a:off x="548640" y="187452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dirty="0" sz="1400" lang="en-US"/>
          </a:p>
        </p:txBody>
      </p:sp>
      <p:sp>
        <p:nvSpPr>
          <p:cNvPr id="1048816" name="Text 6"/>
          <p:cNvSpPr/>
          <p:nvPr/>
        </p:nvSpPr>
        <p:spPr>
          <a:xfrm>
            <a:off x="1051560" y="189280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password — IT staff are trustworthy</a:t>
            </a:r>
            <a:endParaRPr dirty="0" sz="1300" lang="en-US"/>
          </a:p>
        </p:txBody>
      </p:sp>
      <p:sp>
        <p:nvSpPr>
          <p:cNvPr id="1048817" name="Shape 7"/>
          <p:cNvSpPr/>
          <p:nvPr/>
        </p:nvSpPr>
        <p:spPr>
          <a:xfrm>
            <a:off x="365760" y="25146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18" name="Text 8"/>
          <p:cNvSpPr/>
          <p:nvPr/>
        </p:nvSpPr>
        <p:spPr>
          <a:xfrm>
            <a:off x="548640" y="260604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dirty="0" sz="1400" lang="en-US"/>
          </a:p>
        </p:txBody>
      </p:sp>
      <p:sp>
        <p:nvSpPr>
          <p:cNvPr id="1048819" name="Text 9"/>
          <p:cNvSpPr/>
          <p:nvPr/>
        </p:nvSpPr>
        <p:spPr>
          <a:xfrm>
            <a:off x="1051560" y="262432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send the request by email instead</a:t>
            </a:r>
            <a:endParaRPr dirty="0" sz="1300" lang="en-US"/>
          </a:p>
        </p:txBody>
      </p:sp>
      <p:sp>
        <p:nvSpPr>
          <p:cNvPr id="1048820" name="Shape 10"/>
          <p:cNvSpPr/>
          <p:nvPr/>
        </p:nvSpPr>
        <p:spPr>
          <a:xfrm>
            <a:off x="365760" y="32461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21" name="Text 11"/>
          <p:cNvSpPr/>
          <p:nvPr/>
        </p:nvSpPr>
        <p:spPr>
          <a:xfrm>
            <a:off x="548640" y="333756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400" lang="en-US"/>
          </a:p>
        </p:txBody>
      </p:sp>
      <p:sp>
        <p:nvSpPr>
          <p:cNvPr id="1048822" name="Text 12"/>
          <p:cNvSpPr/>
          <p:nvPr/>
        </p:nvSpPr>
        <p:spPr>
          <a:xfrm>
            <a:off x="1051560" y="335584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— legitimate IT will never ask for your password</a:t>
            </a:r>
            <a:endParaRPr dirty="0" sz="1300" lang="en-US"/>
          </a:p>
        </p:txBody>
      </p:sp>
      <p:sp>
        <p:nvSpPr>
          <p:cNvPr id="1048823" name="Text 13"/>
          <p:cNvSpPr/>
          <p:nvPr/>
        </p:nvSpPr>
        <p:spPr>
          <a:xfrm>
            <a:off x="7132320" y="3355848"/>
            <a:ext cx="14630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b="1" dirty="0" sz="1100" lang="en-US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dirty="0" sz="1100" lang="en-US"/>
          </a:p>
        </p:txBody>
      </p:sp>
      <p:sp>
        <p:nvSpPr>
          <p:cNvPr id="1048824" name="Shape 14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230"/>
          </a:solidFill>
          <a:ln w="12700">
            <a:solidFill>
              <a:srgbClr val="2A3A4A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25" name="Text 15"/>
          <p:cNvSpPr/>
          <p:nvPr/>
        </p:nvSpPr>
        <p:spPr>
          <a:xfrm>
            <a:off x="548640" y="406908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dirty="0" sz="1400" lang="en-US"/>
          </a:p>
        </p:txBody>
      </p:sp>
      <p:sp>
        <p:nvSpPr>
          <p:cNvPr id="1048826" name="Text 16"/>
          <p:cNvSpPr/>
          <p:nvPr/>
        </p:nvSpPr>
        <p:spPr>
          <a:xfrm>
            <a:off x="1051560" y="4087368"/>
            <a:ext cx="7498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fake password to test if they are really IT</a:t>
            </a:r>
            <a:endParaRPr dirty="0" sz="1300" lang="en-US"/>
          </a:p>
        </p:txBody>
      </p:sp>
      <p:sp>
        <p:nvSpPr>
          <p:cNvPr id="1048827" name="Shape 17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hape 0"/>
          <p:cNvSpPr/>
          <p:nvPr/>
        </p:nvSpPr>
        <p:spPr>
          <a:xfrm>
            <a:off x="0" y="0"/>
            <a:ext cx="9144000" cy="73152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931920" y="594360"/>
            <a:ext cx="1280160" cy="1280160"/>
          </a:xfrm>
          <a:prstGeom prst="rect"/>
        </p:spPr>
      </p:pic>
      <p:sp>
        <p:nvSpPr>
          <p:cNvPr id="1048832" name="Text 1"/>
          <p:cNvSpPr/>
          <p:nvPr/>
        </p:nvSpPr>
        <p:spPr>
          <a:xfrm>
            <a:off x="457200" y="2011680"/>
            <a:ext cx="822960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800" kern="0" lang="en-US" spc="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VIGILANT.</a:t>
            </a:r>
            <a:endParaRPr dirty="0" sz="3800" lang="en-US"/>
          </a:p>
        </p:txBody>
      </p:sp>
      <p:sp>
        <p:nvSpPr>
          <p:cNvPr id="1048833" name="Text 2"/>
          <p:cNvSpPr/>
          <p:nvPr/>
        </p:nvSpPr>
        <p:spPr>
          <a:xfrm>
            <a:off x="457200" y="2651760"/>
            <a:ext cx="82296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800" kern="0" lang="en-US" spc="50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SECURE.</a:t>
            </a:r>
            <a:endParaRPr dirty="0" sz="3800" lang="en-US"/>
          </a:p>
        </p:txBody>
      </p:sp>
      <p:sp>
        <p:nvSpPr>
          <p:cNvPr id="1048834" name="Text 3"/>
          <p:cNvSpPr/>
          <p:nvPr/>
        </p:nvSpPr>
        <p:spPr>
          <a:xfrm>
            <a:off x="457200" y="338328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500" i="1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click. When in doubt, don't.</a:t>
            </a:r>
            <a:endParaRPr dirty="0" sz="1500" lang="en-US"/>
          </a:p>
        </p:txBody>
      </p:sp>
      <p:sp>
        <p:nvSpPr>
          <p:cNvPr id="1048835" name="Shape 4"/>
          <p:cNvSpPr/>
          <p:nvPr/>
        </p:nvSpPr>
        <p:spPr>
          <a:xfrm>
            <a:off x="1371600" y="3886200"/>
            <a:ext cx="6400800" cy="822960"/>
          </a:xfrm>
          <a:prstGeom prst="roundRect">
            <a:avLst>
              <a:gd name="adj" fmla="val 13333"/>
            </a:avLst>
          </a:prstGeom>
          <a:solidFill>
            <a:srgbClr val="162230"/>
          </a:solidFill>
          <a:effectLst>
            <a:outerShdw algn="bl" blurRad="101600" dir="2700000" dist="38100" kx="0" ky="0" rotWithShape="0" sx="100000" sy="100000">
              <a:srgbClr val="000000">
                <a:alpha val="20000"/>
              </a:srgbClr>
            </a:outerShdw>
          </a:effectLst>
        </p:spPr>
      </p:sp>
      <p:sp>
        <p:nvSpPr>
          <p:cNvPr id="1048836" name="Text 5"/>
          <p:cNvSpPr/>
          <p:nvPr/>
        </p:nvSpPr>
        <p:spPr>
          <a:xfrm>
            <a:off x="1463040" y="3977640"/>
            <a:ext cx="621792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— 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dirty="0" sz="1200" lang="en-US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dirty="0" sz="1200" lang="en-US"/>
          </a:p>
        </p:txBody>
      </p:sp>
      <p:sp>
        <p:nvSpPr>
          <p:cNvPr id="1048837" name="Shape 6"/>
          <p:cNvSpPr/>
          <p:nvPr/>
        </p:nvSpPr>
        <p:spPr>
          <a:xfrm>
            <a:off x="0" y="5065776"/>
            <a:ext cx="9144000" cy="7772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Phishing Awareness Training</dc:title>
  <dc:creator>CodeAlpha Cybersecurity Internship</dc:creator>
  <cp:lastModifiedBy>CodeAlpha Cybersecurity Internship</cp:lastModifiedBy>
  <dcterms:created xsi:type="dcterms:W3CDTF">2026-06-09T14:33:56Z</dcterms:created>
  <dcterms:modified xsi:type="dcterms:W3CDTF">2026-06-10T15:46:41Z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bb29da875c8d4edf985fcb25ebf17a6d</vt:lpwstr>
  </property>
</Properties>
</file>